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386" y="10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84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33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09728" cy="5079492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A2E45">
              <a:alpha val="70000"/>
            </a:srgbClr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35040" y="274320"/>
            <a:ext cx="3291840" cy="3291840"/>
          </a:xfrm>
          <a:prstGeom prst="ellipse">
            <a:avLst/>
          </a:prstGeom>
          <a:solidFill>
            <a:srgbClr val="0F9390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400300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 QA Agent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Self-Healing Test Automation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Playwright  ·  AI Healing  ·  Real-Time Telemetry  ·  Enterprise QA Automation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Modern enterprises run thousands of automated tests daily across browsers, deployments, and CI/CD pipelines.</a:t>
            </a:r>
            <a:r>
              <a:rPr lang="en-US" sz="6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r>
              <a:rPr lang="en-US" sz="1400" b="1" dirty="0"/>
              <a:t>Traditional QA automation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Fragile and selector-dependent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Expensive to maintain manually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Slow during regression cycles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Difficult to scale across releases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Prone to flaky test failures</a:t>
            </a:r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297680" cy="3383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42976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097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002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An AI-powered autonomous QA platform that: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Records browser workflows automatically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Generates Playwright test scripts using AI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Detects and heals broken selectors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Streams real-time execution telemetry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Provides enterprise analytics &amp; reporting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Integrates with CI/CD pipelines</a:t>
            </a:r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900" dirty="0"/>
              <a:t>Autonomous AI QA Agent for Enterprise Test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73152" cy="164592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57200" cy="45720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1400" b="1" dirty="0"/>
              <a:t>AI Browser Recording</a:t>
            </a:r>
            <a:endParaRPr lang="en-US" sz="1300" b="1" dirty="0"/>
          </a:p>
        </p:txBody>
      </p:sp>
      <p:sp>
        <p:nvSpPr>
          <p:cNvPr id="10" name="Text 8"/>
          <p:cNvSpPr/>
          <p:nvPr/>
        </p:nvSpPr>
        <p:spPr>
          <a:xfrm>
            <a:off x="960120" y="158191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Capture browser workflows, clicks, inputs, and navigation automatically using AI-assisted recording.</a:t>
            </a:r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73152" cy="164592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1400" b="1" dirty="0"/>
              <a:t>Self-Healing Automation</a:t>
            </a:r>
            <a:endParaRPr lang="en-US" sz="1300" b="1" dirty="0"/>
          </a:p>
        </p:txBody>
      </p:sp>
      <p:sp>
        <p:nvSpPr>
          <p:cNvPr id="16" name="Text 14"/>
          <p:cNvSpPr/>
          <p:nvPr/>
        </p:nvSpPr>
        <p:spPr>
          <a:xfrm>
            <a:off x="5394960" y="158191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Detect broken selectors and automatically recover failed Playwright executions using AI healing logic.</a:t>
            </a:r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73152" cy="164592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457200" cy="45720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1400" b="1" dirty="0"/>
              <a:t>Real-Time QA Dashboard</a:t>
            </a:r>
            <a:endParaRPr lang="en-US" sz="1300" b="1" dirty="0"/>
          </a:p>
        </p:txBody>
      </p:sp>
      <p:sp>
        <p:nvSpPr>
          <p:cNvPr id="22" name="Text 20"/>
          <p:cNvSpPr/>
          <p:nvPr/>
        </p:nvSpPr>
        <p:spPr>
          <a:xfrm>
            <a:off x="960120" y="34564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Monitor live test runs, execution telemetry, screenshots, logs, and failure analytics from one platform.</a:t>
            </a:r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73152" cy="164592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1400" b="1" dirty="0"/>
              <a:t>Enterprise Productivity Boost</a:t>
            </a:r>
            <a:endParaRPr lang="en-US" sz="1300" b="1" dirty="0"/>
          </a:p>
        </p:txBody>
      </p:sp>
      <p:sp>
        <p:nvSpPr>
          <p:cNvPr id="28" name="Text 26"/>
          <p:cNvSpPr/>
          <p:nvPr/>
        </p:nvSpPr>
        <p:spPr>
          <a:xfrm>
            <a:off x="5394960" y="34564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Reduce manual QA effort, improve release reliability, and accelerate regression testing cycles.</a:t>
            </a:r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Autonomous AI QA Agent for Enterprise Test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Autonomous QA Engine Modules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600200" cy="3474720"/>
          </a:xfrm>
          <a:prstGeom prst="rect">
            <a:avLst/>
          </a:prstGeom>
          <a:solidFill>
            <a:srgbClr val="0F9390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135331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9390"/>
                </a:solidFill>
              </a:rPr>
              <a:t>M1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100" b="1" dirty="0">
                <a:solidFill>
                  <a:schemeClr val="bg1"/>
                </a:solidFill>
              </a:rPr>
              <a:t>AI Browser Recording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Capture browser actions, selectors, clicks, inputs, and navigation flows using Playwright and Chrome Extension.</a:t>
            </a:r>
          </a:p>
        </p:txBody>
      </p:sp>
      <p:sp>
        <p:nvSpPr>
          <p:cNvPr id="10" name="Shape 8"/>
          <p:cNvSpPr/>
          <p:nvPr/>
        </p:nvSpPr>
        <p:spPr>
          <a:xfrm>
            <a:off x="1993392" y="1188720"/>
            <a:ext cx="1600200" cy="3474720"/>
          </a:xfrm>
          <a:prstGeom prst="rect">
            <a:avLst/>
          </a:prstGeom>
          <a:solidFill>
            <a:srgbClr val="1A2E45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353312"/>
            <a:ext cx="457200" cy="45720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100" b="1" dirty="0">
                <a:solidFill>
                  <a:schemeClr val="bg1"/>
                </a:solidFill>
              </a:rPr>
              <a:t>AI Test Generation Engine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84832" y="28803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Convert recorded browser sessions into reusable Playwright TypeScript automation scripts with assertions.</a:t>
            </a:r>
          </a:p>
        </p:txBody>
      </p:sp>
      <p:sp>
        <p:nvSpPr>
          <p:cNvPr id="15" name="Shape 13"/>
          <p:cNvSpPr/>
          <p:nvPr/>
        </p:nvSpPr>
        <p:spPr>
          <a:xfrm>
            <a:off x="3712464" y="1188720"/>
            <a:ext cx="1600200" cy="3474720"/>
          </a:xfrm>
          <a:prstGeom prst="rect">
            <a:avLst/>
          </a:prstGeom>
          <a:solidFill>
            <a:srgbClr val="0F9390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79392" y="135331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79392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9390"/>
                </a:solidFill>
              </a:rPr>
              <a:t>M3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03904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100" b="1" dirty="0">
                <a:solidFill>
                  <a:schemeClr val="bg1"/>
                </a:solidFill>
              </a:rPr>
              <a:t>Autonomous Healing Engine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03904" y="28803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Detect broken selectors, compare DOM similarity, and auto-heal failed executions using AI recovery logic.</a:t>
            </a:r>
          </a:p>
        </p:txBody>
      </p:sp>
      <p:sp>
        <p:nvSpPr>
          <p:cNvPr id="20" name="Shape 18"/>
          <p:cNvSpPr/>
          <p:nvPr/>
        </p:nvSpPr>
        <p:spPr>
          <a:xfrm>
            <a:off x="5431536" y="1188720"/>
            <a:ext cx="1600200" cy="3474720"/>
          </a:xfrm>
          <a:prstGeom prst="rect">
            <a:avLst/>
          </a:prstGeom>
          <a:solidFill>
            <a:srgbClr val="1A2E45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98464" y="1353312"/>
            <a:ext cx="457200" cy="45720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98464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22976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100" b="1" dirty="0">
                <a:solidFill>
                  <a:schemeClr val="bg1"/>
                </a:solidFill>
              </a:rPr>
              <a:t>Real-Time Execution Dashboard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22976" y="28803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Monitor test runs, execution telemetry, screenshots, logs, and AI healing analytics in real time.</a:t>
            </a:r>
          </a:p>
        </p:txBody>
      </p:sp>
      <p:sp>
        <p:nvSpPr>
          <p:cNvPr id="25" name="Shape 23"/>
          <p:cNvSpPr/>
          <p:nvPr/>
        </p:nvSpPr>
        <p:spPr>
          <a:xfrm>
            <a:off x="7150608" y="1188720"/>
            <a:ext cx="1600200" cy="3474720"/>
          </a:xfrm>
          <a:prstGeom prst="rect">
            <a:avLst/>
          </a:prstGeom>
          <a:solidFill>
            <a:srgbClr val="0F9390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17536" y="135331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17536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9390"/>
                </a:solidFill>
              </a:rPr>
              <a:t>M5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42048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100" b="1" dirty="0">
                <a:solidFill>
                  <a:schemeClr val="bg1"/>
                </a:solidFill>
              </a:rPr>
              <a:t>Reporting &amp; CI/CD Integration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42048" y="28803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Generate reports, manage artifacts, and monitor GitHub Actions, Jenkins, and deployment pipelines.</a:t>
            </a:r>
          </a:p>
        </p:txBody>
      </p:sp>
      <p:sp>
        <p:nvSpPr>
          <p:cNvPr id="30" name="Shape 28"/>
          <p:cNvSpPr/>
          <p:nvPr/>
        </p:nvSpPr>
        <p:spPr>
          <a:xfrm>
            <a:off x="1874520" y="2194560"/>
            <a:ext cx="118872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93592" y="2194560"/>
            <a:ext cx="118872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12664" y="2194560"/>
            <a:ext cx="118872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031736" y="2194560"/>
            <a:ext cx="118872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Autonomous AI QA Agent for Enterprise Test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548640" cy="5486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2000" b="1" dirty="0">
                <a:solidFill>
                  <a:schemeClr val="bg1"/>
                </a:solidFill>
              </a:rPr>
              <a:t>MODULE 1: AI BROWSER RECORDING &amp; ACTION CAPTURE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8595360" cy="100584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37565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1400" dirty="0">
                <a:solidFill>
                  <a:schemeClr val="bg1"/>
                </a:solidFill>
              </a:rPr>
              <a:t>Browser Recording Engine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508760" y="1097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0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Chrome Extension · WebSocket Telemetry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2834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283464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1400" b="1" dirty="0">
                <a:solidFill>
                  <a:schemeClr val="bg1"/>
                </a:solidFill>
              </a:rPr>
              <a:t>01 Browser Recording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Capture clicks, input, navigation, and scroll events.</a:t>
            </a:r>
          </a:p>
        </p:txBody>
      </p:sp>
      <p:sp>
        <p:nvSpPr>
          <p:cNvPr id="15" name="Shape 13"/>
          <p:cNvSpPr/>
          <p:nvPr/>
        </p:nvSpPr>
        <p:spPr>
          <a:xfrm>
            <a:off x="438912" y="2944368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selectors and DOM metadata automatically.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538728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931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reusable browser workflow sessions.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" y="4133088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27832" y="2240280"/>
            <a:ext cx="2834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27832" y="2240280"/>
            <a:ext cx="283464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9272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1400" b="1" dirty="0">
                <a:solidFill>
                  <a:schemeClr val="bg1"/>
                </a:solidFill>
              </a:rPr>
              <a:t>02 Event Processing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547872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Normalize recorded browser actions.</a:t>
            </a:r>
          </a:p>
        </p:txBody>
      </p:sp>
      <p:sp>
        <p:nvSpPr>
          <p:cNvPr id="24" name="Shape 22"/>
          <p:cNvSpPr/>
          <p:nvPr/>
        </p:nvSpPr>
        <p:spPr>
          <a:xfrm>
            <a:off x="3392424" y="2944368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47872" y="3383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Extract stable selectors and interaction metadata.</a:t>
            </a:r>
          </a:p>
        </p:txBody>
      </p:sp>
      <p:sp>
        <p:nvSpPr>
          <p:cNvPr id="26" name="Shape 24"/>
          <p:cNvSpPr/>
          <p:nvPr/>
        </p:nvSpPr>
        <p:spPr>
          <a:xfrm>
            <a:off x="3392424" y="3538728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47872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execution steps for AI processing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92424" y="4133088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81344" y="2240280"/>
            <a:ext cx="2834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81344" y="2240280"/>
            <a:ext cx="283464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72784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1400" b="1" dirty="0">
                <a:solidFill>
                  <a:schemeClr val="bg1"/>
                </a:solidFill>
              </a:rPr>
              <a:t>03 Workflow Generation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01384" y="2788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recorded actions into reusable QA flows.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45936" y="2944368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01384" y="3383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Prepare structured data for Playwright generation.</a:t>
            </a:r>
          </a:p>
        </p:txBody>
      </p:sp>
      <p:sp>
        <p:nvSpPr>
          <p:cNvPr id="35" name="Shape 33"/>
          <p:cNvSpPr/>
          <p:nvPr/>
        </p:nvSpPr>
        <p:spPr>
          <a:xfrm>
            <a:off x="6345936" y="3538728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01384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recorded execution sequences before runtime.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45936" y="4133088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Autonomous AI QA Agent for Enterprise Test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2000" b="1" dirty="0">
                <a:solidFill>
                  <a:schemeClr val="bg1"/>
                </a:solidFill>
              </a:rPr>
              <a:t>MODULE 2: AI TEST GENERATION ENGINE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609344" y="1083564"/>
            <a:ext cx="6242304" cy="3593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09344" y="1083564"/>
            <a:ext cx="6242304" cy="411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09344" y="1083564"/>
            <a:ext cx="624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400" b="1" dirty="0">
                <a:solidFill>
                  <a:schemeClr val="bg1"/>
                </a:solidFill>
              </a:rPr>
              <a:t>AI AUTOMATION LAYER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52712" y="1696212"/>
            <a:ext cx="949920" cy="32004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52712" y="1677924"/>
            <a:ext cx="94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800" b="1" dirty="0">
                <a:solidFill>
                  <a:schemeClr val="bg1"/>
                </a:solidFill>
              </a:rPr>
              <a:t>Playwright Runtime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82340" y="1673352"/>
            <a:ext cx="3246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Enterprise-grade browser automation engine for generating and executing reusable test flows.</a:t>
            </a:r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Autonomous AI QA Agent for Enterprise Test Automation</a:t>
            </a:r>
            <a:endParaRPr lang="en-US" sz="9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F61BE87B-9A58-7219-664D-45D8EA640627}"/>
              </a:ext>
            </a:extLst>
          </p:cNvPr>
          <p:cNvSpPr/>
          <p:nvPr/>
        </p:nvSpPr>
        <p:spPr>
          <a:xfrm>
            <a:off x="2052712" y="2415540"/>
            <a:ext cx="949920" cy="32004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5C8A9AE8-D39B-6B83-47D2-06C351A7C3A5}"/>
              </a:ext>
            </a:extLst>
          </p:cNvPr>
          <p:cNvSpPr/>
          <p:nvPr/>
        </p:nvSpPr>
        <p:spPr>
          <a:xfrm>
            <a:off x="2052712" y="3145537"/>
            <a:ext cx="949920" cy="32004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ED2D5591-A157-6CE2-5D76-FCEC4FEA8776}"/>
              </a:ext>
            </a:extLst>
          </p:cNvPr>
          <p:cNvSpPr/>
          <p:nvPr/>
        </p:nvSpPr>
        <p:spPr>
          <a:xfrm>
            <a:off x="2052712" y="3872485"/>
            <a:ext cx="949920" cy="32004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79FD1572-1DF5-94E7-A409-69494DE13556}"/>
              </a:ext>
            </a:extLst>
          </p:cNvPr>
          <p:cNvSpPr/>
          <p:nvPr/>
        </p:nvSpPr>
        <p:spPr>
          <a:xfrm>
            <a:off x="2052712" y="2407920"/>
            <a:ext cx="94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800" b="1" dirty="0">
                <a:solidFill>
                  <a:schemeClr val="bg1"/>
                </a:solidFill>
              </a:rPr>
              <a:t>AI Workflow Generator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37CBA2D-42CF-09C7-F68A-C6EB60A180D6}"/>
              </a:ext>
            </a:extLst>
          </p:cNvPr>
          <p:cNvSpPr/>
          <p:nvPr/>
        </p:nvSpPr>
        <p:spPr>
          <a:xfrm>
            <a:off x="2052712" y="3134868"/>
            <a:ext cx="94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800" b="1" dirty="0">
                <a:solidFill>
                  <a:schemeClr val="bg1"/>
                </a:solidFill>
              </a:rPr>
              <a:t>Assertion Engine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28FD0AA7-27F9-8222-B846-53B97043E677}"/>
              </a:ext>
            </a:extLst>
          </p:cNvPr>
          <p:cNvSpPr/>
          <p:nvPr/>
        </p:nvSpPr>
        <p:spPr>
          <a:xfrm>
            <a:off x="2060332" y="3874008"/>
            <a:ext cx="94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800" b="1" dirty="0">
                <a:solidFill>
                  <a:schemeClr val="bg1"/>
                </a:solidFill>
              </a:rPr>
              <a:t>Selector Intelligence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75DEAA11-F992-90F3-96FC-660AA54265F8}"/>
              </a:ext>
            </a:extLst>
          </p:cNvPr>
          <p:cNvSpPr/>
          <p:nvPr/>
        </p:nvSpPr>
        <p:spPr>
          <a:xfrm>
            <a:off x="3482340" y="2413254"/>
            <a:ext cx="3246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Converts recorded browser actions into structured Playwright TypeScript automation scripts.</a:t>
            </a: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22C4D490-8215-D5CC-CF51-EF6E215287B7}"/>
              </a:ext>
            </a:extLst>
          </p:cNvPr>
          <p:cNvSpPr/>
          <p:nvPr/>
        </p:nvSpPr>
        <p:spPr>
          <a:xfrm>
            <a:off x="3482340" y="3130296"/>
            <a:ext cx="3246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Automatically generates reusable assertions and validation steps during execution.</a:t>
            </a: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550C6228-D7E8-951A-363F-9F04B621B9D6}"/>
              </a:ext>
            </a:extLst>
          </p:cNvPr>
          <p:cNvSpPr/>
          <p:nvPr/>
        </p:nvSpPr>
        <p:spPr>
          <a:xfrm>
            <a:off x="3482340" y="3867150"/>
            <a:ext cx="3246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Captures stable selectors and prepares fallback recovery paths for autonomous healing.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548640" cy="5486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MODULE 3: AUTONOMOUS HEALING ENGINE</a:t>
            </a:r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83464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b="1" dirty="0">
                <a:solidFill>
                  <a:schemeClr val="bg1"/>
                </a:solidFill>
              </a:rPr>
              <a:t>FAILED SELECTOR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Broken or outdated selectors detected during runtime execution.</a:t>
            </a:r>
          </a:p>
        </p:txBody>
      </p:sp>
      <p:sp>
        <p:nvSpPr>
          <p:cNvPr id="13" name="Shape 11"/>
          <p:cNvSpPr/>
          <p:nvPr/>
        </p:nvSpPr>
        <p:spPr>
          <a:xfrm>
            <a:off x="411480" y="2606040"/>
            <a:ext cx="256032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100" b="1" dirty="0"/>
              <a:t>Trigger Examples:</a:t>
            </a:r>
            <a:endParaRPr lang="en-US" sz="1100" b="1" dirty="0"/>
          </a:p>
        </p:txBody>
      </p:sp>
      <p:sp>
        <p:nvSpPr>
          <p:cNvPr id="15" name="Text 13"/>
          <p:cNvSpPr/>
          <p:nvPr/>
        </p:nvSpPr>
        <p:spPr>
          <a:xfrm>
            <a:off x="914400" y="28803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#loginBtn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a[href="/contact"]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text=Submit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105156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27832" y="1051560"/>
            <a:ext cx="283464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27832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b="1" dirty="0">
                <a:solidFill>
                  <a:schemeClr val="bg1"/>
                </a:solidFill>
              </a:rPr>
              <a:t>AI ANALYSIS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27832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64992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AI compares DOM similarity, nearby semantic nodes, and historical execution patterns.</a:t>
            </a:r>
          </a:p>
        </p:txBody>
      </p:sp>
      <p:sp>
        <p:nvSpPr>
          <p:cNvPr id="22" name="Shape 20"/>
          <p:cNvSpPr/>
          <p:nvPr/>
        </p:nvSpPr>
        <p:spPr>
          <a:xfrm>
            <a:off x="3364992" y="2606040"/>
            <a:ext cx="256032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64992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100" b="1" dirty="0"/>
              <a:t>Recovery Signals:</a:t>
            </a:r>
            <a:endParaRPr lang="en-US" sz="1100" b="1" dirty="0"/>
          </a:p>
        </p:txBody>
      </p:sp>
      <p:sp>
        <p:nvSpPr>
          <p:cNvPr id="24" name="Text 22"/>
          <p:cNvSpPr/>
          <p:nvPr/>
        </p:nvSpPr>
        <p:spPr>
          <a:xfrm>
            <a:off x="3364992" y="2880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similarity</a:t>
            </a:r>
          </a:p>
          <a:p>
            <a:pPr marL="0" indent="0" algn="ctr">
              <a:buNone/>
            </a:pPr>
            <a:r>
              <a:rPr lang="en-US" sz="1100" i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matching</a:t>
            </a:r>
          </a:p>
          <a:p>
            <a:pPr marL="0" indent="0" algn="ctr">
              <a:buNone/>
            </a:pPr>
            <a:r>
              <a:rPr lang="en-US" sz="1100" i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hierarchy</a:t>
            </a:r>
          </a:p>
          <a:p>
            <a:pPr marL="0" indent="0" algn="ctr">
              <a:buNone/>
            </a:pPr>
            <a:r>
              <a:rPr lang="en-US" sz="1100" i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history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81344" y="105156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181344" y="1051560"/>
            <a:ext cx="2834640" cy="6400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81344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b="1" dirty="0">
                <a:solidFill>
                  <a:schemeClr val="bg1"/>
                </a:solidFill>
              </a:rPr>
              <a:t>HEALED EXECUTION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81344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18504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AI automatically applies recovered selectors and resumes execution successfully.</a:t>
            </a:r>
          </a:p>
        </p:txBody>
      </p:sp>
      <p:sp>
        <p:nvSpPr>
          <p:cNvPr id="31" name="Shape 29"/>
          <p:cNvSpPr/>
          <p:nvPr/>
        </p:nvSpPr>
        <p:spPr>
          <a:xfrm>
            <a:off x="6318504" y="2606040"/>
            <a:ext cx="256032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18504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100" b="1" dirty="0"/>
              <a:t>Generated Selector:</a:t>
            </a:r>
            <a:endParaRPr lang="en-US" sz="1100" b="1" dirty="0"/>
          </a:p>
        </p:txBody>
      </p:sp>
      <p:sp>
        <p:nvSpPr>
          <p:cNvPr id="33" name="Text 31"/>
          <p:cNvSpPr/>
          <p:nvPr/>
        </p:nvSpPr>
        <p:spPr>
          <a:xfrm>
            <a:off x="6318504" y="2880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[data-</a:t>
            </a:r>
            <a:r>
              <a:rPr lang="en-US" sz="1100" i="1" dirty="0" err="1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testid</a:t>
            </a:r>
            <a:r>
              <a:rPr lang="en-US" sz="1100" i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="login-button"]</a:t>
            </a:r>
          </a:p>
          <a:p>
            <a:pPr marL="0" indent="0" algn="ctr">
              <a:buNone/>
            </a:pPr>
            <a:r>
              <a:rPr lang="en-US" sz="1100" i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#contact-name</a:t>
            </a:r>
          </a:p>
          <a:p>
            <a:pPr marL="0" indent="0" algn="ctr">
              <a:buNone/>
            </a:pPr>
            <a:r>
              <a:rPr lang="en-US" sz="1100" i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button[type="submit"]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617720"/>
            <a:ext cx="8595360" cy="21031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617720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DOM similarity + semantic matching + historical learning = autonomous selector healing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Autonomous AI QA Agent for Enterprise Test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D" sz="2400" b="1" dirty="0">
                <a:solidFill>
                  <a:schemeClr val="bg1"/>
                </a:solidFill>
              </a:rPr>
              <a:t>MODULE 4 &amp; 5: QA DASHBOARD &amp; PIPELINE MONITORING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34444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1034444"/>
            <a:ext cx="4114800" cy="41148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344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88240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5647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live Playwright test executions.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63728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0402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execution telemetry and browser logs.</a:t>
            </a:r>
          </a:p>
        </p:txBody>
      </p:sp>
      <p:sp>
        <p:nvSpPr>
          <p:cNvPr id="12" name="Shape 10"/>
          <p:cNvSpPr/>
          <p:nvPr/>
        </p:nvSpPr>
        <p:spPr>
          <a:xfrm>
            <a:off x="457200" y="2646836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5157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pass/fail trends and healing analytics.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29944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9912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screenshots, videos, and runtime artifacts.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97812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4667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selector recovery confidence scores.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73300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9422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PDF, CSV, and JSON execution reports.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Autonomous AI QA Agent for Enterprise Test Automation</a:t>
            </a:r>
            <a:endParaRPr lang="en-US" sz="9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B1BFA8D7-8BA6-A7AD-666F-78F75F0DF3D3}"/>
              </a:ext>
            </a:extLst>
          </p:cNvPr>
          <p:cNvSpPr/>
          <p:nvPr/>
        </p:nvSpPr>
        <p:spPr>
          <a:xfrm>
            <a:off x="4663440" y="1034444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</a:t>
            </a:r>
            <a:endParaRPr lang="en-US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2CB7CAFB-B4E0-D242-F03C-CF6A6F9CF85E}"/>
              </a:ext>
            </a:extLst>
          </p:cNvPr>
          <p:cNvSpPr/>
          <p:nvPr/>
        </p:nvSpPr>
        <p:spPr>
          <a:xfrm>
            <a:off x="4663440" y="1034444"/>
            <a:ext cx="4114800" cy="41148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E5FBD8A8-5E57-EBB2-CD18-0B3FA84C7032}"/>
              </a:ext>
            </a:extLst>
          </p:cNvPr>
          <p:cNvSpPr/>
          <p:nvPr/>
        </p:nvSpPr>
        <p:spPr>
          <a:xfrm>
            <a:off x="4663440" y="10344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400" b="1" dirty="0">
                <a:solidFill>
                  <a:schemeClr val="bg1"/>
                </a:solidFill>
              </a:rPr>
              <a:t>CI/CD &amp; PIPELINE MONITORING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79EDDA71-EF3C-1768-B42F-9F226A8226A4}"/>
              </a:ext>
            </a:extLst>
          </p:cNvPr>
          <p:cNvSpPr/>
          <p:nvPr/>
        </p:nvSpPr>
        <p:spPr>
          <a:xfrm>
            <a:off x="4846320" y="1686716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8DCDB4CE-A750-F1A9-0049-BA9B7E7D5579}"/>
              </a:ext>
            </a:extLst>
          </p:cNvPr>
          <p:cNvSpPr/>
          <p:nvPr/>
        </p:nvSpPr>
        <p:spPr>
          <a:xfrm>
            <a:off x="5074920" y="15647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Monitor GitHub Actions and Jenkins pipelines.</a:t>
            </a:r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8B3ECC79-B0BF-343A-0A5F-DE5FC18EFD67}"/>
              </a:ext>
            </a:extLst>
          </p:cNvPr>
          <p:cNvSpPr/>
          <p:nvPr/>
        </p:nvSpPr>
        <p:spPr>
          <a:xfrm>
            <a:off x="4846320" y="2162204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D846D855-E18B-7598-749F-2F2FB3868D50}"/>
              </a:ext>
            </a:extLst>
          </p:cNvPr>
          <p:cNvSpPr/>
          <p:nvPr/>
        </p:nvSpPr>
        <p:spPr>
          <a:xfrm>
            <a:off x="5074920" y="20402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QA gates before production deployment.</a:t>
            </a:r>
            <a:endParaRPr lang="en-US" sz="1200" dirty="0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D0C70A57-B828-D9B8-F2BD-98FA4A2402A6}"/>
              </a:ext>
            </a:extLst>
          </p:cNvPr>
          <p:cNvSpPr/>
          <p:nvPr/>
        </p:nvSpPr>
        <p:spPr>
          <a:xfrm>
            <a:off x="4846320" y="2642264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CC6E31AE-9BDD-8941-FE49-7D48A829FA22}"/>
              </a:ext>
            </a:extLst>
          </p:cNvPr>
          <p:cNvSpPr/>
          <p:nvPr/>
        </p:nvSpPr>
        <p:spPr>
          <a:xfrm>
            <a:off x="5074920" y="25157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deployment status across environments.</a:t>
            </a:r>
            <a:endParaRPr lang="en-US" sz="1200" dirty="0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21AC79C4-99BF-B659-5B90-7E8A803946A4}"/>
              </a:ext>
            </a:extLst>
          </p:cNvPr>
          <p:cNvSpPr/>
          <p:nvPr/>
        </p:nvSpPr>
        <p:spPr>
          <a:xfrm>
            <a:off x="4846320" y="3113180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CAF1293B-143A-6513-D03D-62EA301C95B8}"/>
              </a:ext>
            </a:extLst>
          </p:cNvPr>
          <p:cNvSpPr/>
          <p:nvPr/>
        </p:nvSpPr>
        <p:spPr>
          <a:xfrm>
            <a:off x="5074920" y="29912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real-time pipeline execution telemetry.</a:t>
            </a:r>
            <a:endParaRPr lang="en-US" sz="1200" dirty="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D48ABB37-3403-8307-30B8-D70CDF476A65}"/>
              </a:ext>
            </a:extLst>
          </p:cNvPr>
          <p:cNvSpPr/>
          <p:nvPr/>
        </p:nvSpPr>
        <p:spPr>
          <a:xfrm>
            <a:off x="4846320" y="3588668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747C9A80-41D2-746A-0884-083AEDBBF29F}"/>
              </a:ext>
            </a:extLst>
          </p:cNvPr>
          <p:cNvSpPr/>
          <p:nvPr/>
        </p:nvSpPr>
        <p:spPr>
          <a:xfrm>
            <a:off x="5074920" y="34667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failed executions and recovery attempts.</a:t>
            </a:r>
            <a:endParaRPr lang="en-US" sz="1200" dirty="0"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3D257972-A0A2-CC06-098B-CB8A93041412}"/>
              </a:ext>
            </a:extLst>
          </p:cNvPr>
          <p:cNvSpPr/>
          <p:nvPr/>
        </p:nvSpPr>
        <p:spPr>
          <a:xfrm>
            <a:off x="4846320" y="4070252"/>
            <a:ext cx="128016" cy="128016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D22323FF-3F6B-EFC4-E894-438903FB5711}"/>
              </a:ext>
            </a:extLst>
          </p:cNvPr>
          <p:cNvSpPr/>
          <p:nvPr/>
        </p:nvSpPr>
        <p:spPr>
          <a:xfrm>
            <a:off x="5074920" y="39422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automated regression workflows.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4-WEEK AUTONOMOUS QA DEVELOPMENT ROADMAP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79448"/>
            <a:ext cx="8229600" cy="73152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652016"/>
            <a:ext cx="365760" cy="36576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52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" y="1130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Weeks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" y="2182368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" y="2182368"/>
            <a:ext cx="2011680" cy="41148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" y="2182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D" sz="1100" b="1" dirty="0">
                <a:solidFill>
                  <a:schemeClr val="bg1"/>
                </a:solidFill>
              </a:rPr>
              <a:t>M1: Browser Recording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2880" y="2757678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6852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browser recording workflow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" y="3229356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1607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selectors and browser actions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708654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6362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execution telemetry and session data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81528" y="1652016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81528" y="1652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58568" y="1130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Weeks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58568" y="2182368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58568" y="2182368"/>
            <a:ext cx="20116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58568" y="2182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D" sz="1100" b="1" dirty="0">
                <a:solidFill>
                  <a:schemeClr val="bg1"/>
                </a:solidFill>
              </a:rPr>
              <a:t>M2: AI Test Generation</a:t>
            </a:r>
          </a:p>
        </p:txBody>
      </p:sp>
      <p:sp>
        <p:nvSpPr>
          <p:cNvPr id="24" name="Shape 22"/>
          <p:cNvSpPr/>
          <p:nvPr/>
        </p:nvSpPr>
        <p:spPr>
          <a:xfrm>
            <a:off x="2395728" y="275386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32888" y="26852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Playwright TypeScript scripts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95728" y="322935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32888" y="31607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assertions and reusable automation flows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95728" y="370484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32888" y="36362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execution runtime stability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94376" y="1652016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94376" y="1652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71416" y="1130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Weeks 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71416" y="2182368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71416" y="2182368"/>
            <a:ext cx="201168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71416" y="2182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D" sz="1100" b="1" dirty="0">
                <a:solidFill>
                  <a:schemeClr val="bg1"/>
                </a:solidFill>
              </a:rPr>
              <a:t>M3: AI Healing Engine</a:t>
            </a:r>
          </a:p>
        </p:txBody>
      </p:sp>
      <p:sp>
        <p:nvSpPr>
          <p:cNvPr id="36" name="Shape 34"/>
          <p:cNvSpPr/>
          <p:nvPr/>
        </p:nvSpPr>
        <p:spPr>
          <a:xfrm>
            <a:off x="4608576" y="275005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45736" y="26852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selector failures automatically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08576" y="322935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45736" y="31607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DOM similarity recovery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08576" y="371246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45736" y="36362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live healing telemetry and logs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507224" y="1652016"/>
            <a:ext cx="365760" cy="36576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507224" y="1652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84264" y="1130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Weeks 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684264" y="2182368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684264" y="2182368"/>
            <a:ext cx="201168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84264" y="2182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M4 &amp; 5: Dashboard &amp; CI/CD</a:t>
            </a:r>
          </a:p>
        </p:txBody>
      </p:sp>
      <p:sp>
        <p:nvSpPr>
          <p:cNvPr id="48" name="Shape 46"/>
          <p:cNvSpPr/>
          <p:nvPr/>
        </p:nvSpPr>
        <p:spPr>
          <a:xfrm>
            <a:off x="6821424" y="2750058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58584" y="26852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execution analytics dashboard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21424" y="3233166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58584" y="31607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and execution artifacts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821424" y="3704844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58584" y="36362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CI/CD pipelines and deployments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80416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Autonomous AI QA Agent for Enterprise Test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sz="2400" b="1" dirty="0">
                <a:solidFill>
                  <a:schemeClr val="bg1"/>
                </a:solidFill>
              </a:rPr>
              <a:t>TECHNOLOGY STACK &amp; INFRASTRUCTURE</a:t>
            </a:r>
          </a:p>
        </p:txBody>
      </p:sp>
      <p:sp>
        <p:nvSpPr>
          <p:cNvPr id="9" name="Shape 7"/>
          <p:cNvSpPr/>
          <p:nvPr/>
        </p:nvSpPr>
        <p:spPr>
          <a:xfrm>
            <a:off x="184616" y="1707806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84616" y="1707806"/>
            <a:ext cx="2011680" cy="41148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4616" y="170780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D" sz="1100" b="1" dirty="0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12" name="Shape 10"/>
          <p:cNvSpPr/>
          <p:nvPr/>
        </p:nvSpPr>
        <p:spPr>
          <a:xfrm>
            <a:off x="321776" y="2351696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8936" y="221072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776" y="2830994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8936" y="268621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1776" y="3310292"/>
            <a:ext cx="91440" cy="91440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936" y="316170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97464" y="1707806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397464" y="1707806"/>
            <a:ext cx="20116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97464" y="170780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D" sz="1100" b="1" dirty="0">
                <a:solidFill>
                  <a:schemeClr val="bg1"/>
                </a:solidFill>
              </a:rPr>
              <a:t>BACKEND</a:t>
            </a:r>
          </a:p>
        </p:txBody>
      </p:sp>
      <p:sp>
        <p:nvSpPr>
          <p:cNvPr id="24" name="Shape 22"/>
          <p:cNvSpPr/>
          <p:nvPr/>
        </p:nvSpPr>
        <p:spPr>
          <a:xfrm>
            <a:off x="2534624" y="234788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71784" y="221072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34624" y="283099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71784" y="268621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34624" y="332172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71784" y="316170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0312" y="1707806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10312" y="1707806"/>
            <a:ext cx="201168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10312" y="170780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D" sz="1100" b="1" dirty="0">
                <a:solidFill>
                  <a:schemeClr val="bg1"/>
                </a:solidFill>
              </a:rPr>
              <a:t>AUTOMATION ENGINE</a:t>
            </a:r>
          </a:p>
        </p:txBody>
      </p:sp>
      <p:sp>
        <p:nvSpPr>
          <p:cNvPr id="36" name="Shape 34"/>
          <p:cNvSpPr/>
          <p:nvPr/>
        </p:nvSpPr>
        <p:spPr>
          <a:xfrm>
            <a:off x="4747472" y="235169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84632" y="221072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47472" y="282337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84632" y="268621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Healing Engine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47472" y="330648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84632" y="316170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Intelligence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23160" y="1707806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823160" y="1707806"/>
            <a:ext cx="201168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23160" y="170780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D" sz="1100" b="1" dirty="0">
                <a:solidFill>
                  <a:schemeClr val="bg1"/>
                </a:solidFill>
              </a:rPr>
              <a:t>DEVOPS &amp; DEPLOYMENT</a:t>
            </a:r>
          </a:p>
        </p:txBody>
      </p:sp>
      <p:sp>
        <p:nvSpPr>
          <p:cNvPr id="48" name="Shape 46"/>
          <p:cNvSpPr/>
          <p:nvPr/>
        </p:nvSpPr>
        <p:spPr>
          <a:xfrm>
            <a:off x="6960320" y="2336456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97480" y="221072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60320" y="2834804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97480" y="268621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Telemetry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960320" y="3306482"/>
            <a:ext cx="91440" cy="91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097480" y="316170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80416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Autonomous AI QA Agent for Enterprise Test Automation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7363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sz="2800" b="1" dirty="0">
                <a:solidFill>
                  <a:schemeClr val="bg1"/>
                </a:solidFill>
              </a:rPr>
              <a:t>QA EXECUTION PERFORMANCE SUMMARY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91440" cy="73152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463040" cy="731520"/>
          </a:xfrm>
          <a:prstGeom prst="rect">
            <a:avLst/>
          </a:prstGeom>
          <a:solidFill>
            <a:srgbClr val="0F9390">
              <a:alpha val="15000"/>
            </a:srgbClr>
          </a:solidFill>
          <a:ln w="12700">
            <a:solidFill>
              <a:srgbClr val="0F93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9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sz="1400" b="1" dirty="0"/>
              <a:t>Browser Recording Stability</a:t>
            </a:r>
          </a:p>
        </p:txBody>
      </p:sp>
      <p:sp>
        <p:nvSpPr>
          <p:cNvPr id="10" name="Text 8"/>
          <p:cNvSpPr/>
          <p:nvPr/>
        </p:nvSpPr>
        <p:spPr>
          <a:xfrm>
            <a:off x="2103120" y="14813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Reliable capture of browser actions, selectors, and execution telemetry across workflows.</a:t>
            </a:r>
          </a:p>
        </p:txBody>
      </p:sp>
      <p:sp>
        <p:nvSpPr>
          <p:cNvPr id="11" name="Shape 9"/>
          <p:cNvSpPr/>
          <p:nvPr/>
        </p:nvSpPr>
        <p:spPr>
          <a:xfrm>
            <a:off x="8503920" y="1261872"/>
            <a:ext cx="384048" cy="384048"/>
          </a:xfrm>
          <a:prstGeom prst="ellipse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039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91440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1463040" cy="73152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sz="1400" b="1" dirty="0"/>
              <a:t>Playwright Generation Accuracy</a:t>
            </a:r>
          </a:p>
        </p:txBody>
      </p:sp>
      <p:sp>
        <p:nvSpPr>
          <p:cNvPr id="18" name="Text 16"/>
          <p:cNvSpPr/>
          <p:nvPr/>
        </p:nvSpPr>
        <p:spPr>
          <a:xfrm>
            <a:off x="2103120" y="23957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AI-generated automation flows successfully converted into reusable Playwright test scripts.</a:t>
            </a:r>
          </a:p>
        </p:txBody>
      </p:sp>
      <p:sp>
        <p:nvSpPr>
          <p:cNvPr id="19" name="Shape 17"/>
          <p:cNvSpPr/>
          <p:nvPr/>
        </p:nvSpPr>
        <p:spPr>
          <a:xfrm>
            <a:off x="8503920" y="2176272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0392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91440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1463040" cy="731520"/>
          </a:xfrm>
          <a:prstGeom prst="rect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sz="1400" b="1" dirty="0"/>
              <a:t>Autonomous Healing Success</a:t>
            </a:r>
          </a:p>
        </p:txBody>
      </p:sp>
      <p:sp>
        <p:nvSpPr>
          <p:cNvPr id="26" name="Text 24"/>
          <p:cNvSpPr/>
          <p:nvPr/>
        </p:nvSpPr>
        <p:spPr>
          <a:xfrm>
            <a:off x="2103120" y="33101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AI recovery engine successfully healed failed selectors using DOM similarity matching.</a:t>
            </a:r>
          </a:p>
        </p:txBody>
      </p:sp>
      <p:sp>
        <p:nvSpPr>
          <p:cNvPr id="27" name="Shape 25"/>
          <p:cNvSpPr/>
          <p:nvPr/>
        </p:nvSpPr>
        <p:spPr>
          <a:xfrm>
            <a:off x="8503920" y="3090672"/>
            <a:ext cx="384048" cy="3840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0392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840480"/>
            <a:ext cx="91440" cy="7315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1463040" cy="731520"/>
          </a:xfrm>
          <a:prstGeom prst="rect">
            <a:avLst/>
          </a:prstGeom>
          <a:solidFill>
            <a:srgbClr val="9B59B6">
              <a:alpha val="15000"/>
            </a:srgbClr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840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031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sz="1400" b="1" dirty="0"/>
              <a:t>Enterprise Deployment Readiness</a:t>
            </a:r>
          </a:p>
        </p:txBody>
      </p:sp>
      <p:sp>
        <p:nvSpPr>
          <p:cNvPr id="34" name="Text 32"/>
          <p:cNvSpPr/>
          <p:nvPr/>
        </p:nvSpPr>
        <p:spPr>
          <a:xfrm>
            <a:off x="2103120" y="42245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Live dashboard, CI/CD monitoring, reporting, and execution analytics integrated successfully.</a:t>
            </a:r>
          </a:p>
        </p:txBody>
      </p:sp>
      <p:sp>
        <p:nvSpPr>
          <p:cNvPr id="35" name="Shape 33"/>
          <p:cNvSpPr/>
          <p:nvPr/>
        </p:nvSpPr>
        <p:spPr>
          <a:xfrm>
            <a:off x="8503920" y="4005072"/>
            <a:ext cx="384048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0392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Autonomous AI QA Agent for Enterprise Test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1828800"/>
            <a:ext cx="4114800" cy="4114800"/>
          </a:xfrm>
          <a:prstGeom prst="ellipse">
            <a:avLst/>
          </a:prstGeom>
          <a:solidFill>
            <a:srgbClr val="1A2E45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0" y="2560320"/>
            <a:ext cx="2651760" cy="2651760"/>
          </a:xfrm>
          <a:prstGeom prst="ellipse">
            <a:avLst/>
          </a:prstGeom>
          <a:solidFill>
            <a:srgbClr val="0F9390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2926080" cy="54864"/>
          </a:xfrm>
          <a:prstGeom prst="rect">
            <a:avLst/>
          </a:prstGeom>
          <a:solidFill>
            <a:srgbClr val="0F9390"/>
          </a:solidFill>
          <a:ln w="12700">
            <a:solidFill>
              <a:srgbClr val="0F93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Autonomous QA Platform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AI-powered browser workflow recording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935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Autonomous selector healing with DOM similarity recovery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94106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Real-time Playwright execution telemetry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2885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CI/CD pipeline monitoring and QA </a:t>
            </a:r>
            <a:r>
              <a:rPr lang="en-ID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331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4846320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Enterprise Autonomous Testing Infrastructure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3971</TotalTime>
  <Words>1012</Words>
  <Application>Microsoft Office PowerPoint</Application>
  <PresentationFormat>On-screen Show (16:9)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Smart Email Classifier for Enterprises</dc:title>
  <dc:subject>PptxGenJS Presentation</dc:subject>
  <dc:creator>PptxGenJS</dc:creator>
  <cp:lastModifiedBy>dinesh patel</cp:lastModifiedBy>
  <cp:revision>5</cp:revision>
  <dcterms:created xsi:type="dcterms:W3CDTF">2026-03-18T12:57:50Z</dcterms:created>
  <dcterms:modified xsi:type="dcterms:W3CDTF">2026-05-30T13:20:46Z</dcterms:modified>
</cp:coreProperties>
</file>